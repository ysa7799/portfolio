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capping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$0–50</c:v>
                  </c:pt>
                  <c:pt idx="1">
                    <c:v>$50–100</c:v>
                  </c:pt>
                  <c:pt idx="2">
                    <c:v>$100–150</c:v>
                  </c:pt>
                  <c:pt idx="3">
                    <c:v>$150–200</c:v>
                  </c:pt>
                  <c:pt idx="4">
                    <c:v>$200–300</c:v>
                  </c:pt>
                  <c:pt idx="5">
                    <c:v>$300–450</c:v>
                  </c:pt>
                  <c:pt idx="6">
                    <c:v>$450+ (raw)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95</c:v>
                </c:pt>
                <c:pt idx="2">
                  <c:v>140</c:v>
                </c:pt>
                <c:pt idx="3">
                  <c:v>110</c:v>
                </c:pt>
                <c:pt idx="4">
                  <c:v>70</c:v>
                </c:pt>
                <c:pt idx="5">
                  <c:v>30</c:v>
                </c:pt>
                <c:pt idx="6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capping (p99)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$0–50</c:v>
                  </c:pt>
                  <c:pt idx="1">
                    <c:v>$50–100</c:v>
                  </c:pt>
                  <c:pt idx="2">
                    <c:v>$100–150</c:v>
                  </c:pt>
                  <c:pt idx="3">
                    <c:v>$150–200</c:v>
                  </c:pt>
                  <c:pt idx="4">
                    <c:v>$200–300</c:v>
                  </c:pt>
                  <c:pt idx="5">
                    <c:v>$300–450</c:v>
                  </c:pt>
                  <c:pt idx="6">
                    <c:v>$450+ (raw)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95</c:v>
                </c:pt>
                <c:pt idx="2">
                  <c:v>140</c:v>
                </c:pt>
                <c:pt idx="3">
                  <c:v>110</c:v>
                </c:pt>
                <c:pt idx="4">
                  <c:v>70</c:v>
                </c:pt>
                <c:pt idx="5">
                  <c:v>45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70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70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22</c:v>
                </c:pt>
                <c:pt idx="9">
                  <c:v>26</c:v>
                </c:pt>
                <c:pt idx="10">
                  <c:v>30</c:v>
                </c:pt>
                <c:pt idx="11">
                  <c:v>36</c:v>
                </c:pt>
                <c:pt idx="12">
                  <c:v>42</c:v>
                </c:pt>
                <c:pt idx="13">
                  <c:v>48</c:v>
                </c:pt>
                <c:pt idx="14">
                  <c:v>54</c:v>
                </c:pt>
                <c:pt idx="15">
                  <c:v>60</c:v>
                </c:pt>
              </c:numCache>
            </c:numRef>
          </c:xVal>
          <c:yVal>
            <c:numRef>
              <c:f>Sheet1!$B$2:$B$17</c:f>
              <c:numCache>
                <c:formatCode>General</c:formatCode>
                <c:ptCount val="16"/>
                <c:pt idx="0">
                  <c:v>95</c:v>
                </c:pt>
                <c:pt idx="1">
                  <c:v>140</c:v>
                </c:pt>
                <c:pt idx="2">
                  <c:v>110</c:v>
                </c:pt>
                <c:pt idx="3">
                  <c:v>180</c:v>
                </c:pt>
                <c:pt idx="4">
                  <c:v>130</c:v>
                </c:pt>
                <c:pt idx="5">
                  <c:v>205</c:v>
                </c:pt>
                <c:pt idx="6">
                  <c:v>160</c:v>
                </c:pt>
                <c:pt idx="7">
                  <c:v>95</c:v>
                </c:pt>
                <c:pt idx="8">
                  <c:v>210</c:v>
                </c:pt>
                <c:pt idx="9">
                  <c:v>175</c:v>
                </c:pt>
                <c:pt idx="10">
                  <c:v>140</c:v>
                </c:pt>
                <c:pt idx="11">
                  <c:v>230</c:v>
                </c:pt>
                <c:pt idx="12">
                  <c:v>120</c:v>
                </c:pt>
                <c:pt idx="13">
                  <c:v>190</c:v>
                </c:pt>
                <c:pt idx="14">
                  <c:v>205</c:v>
                </c:pt>
                <c:pt idx="15">
                  <c:v>150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 (r ≈ 0.08)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22</c:v>
                </c:pt>
                <c:pt idx="9">
                  <c:v>26</c:v>
                </c:pt>
                <c:pt idx="10">
                  <c:v>30</c:v>
                </c:pt>
                <c:pt idx="11">
                  <c:v>36</c:v>
                </c:pt>
                <c:pt idx="12">
                  <c:v>42</c:v>
                </c:pt>
                <c:pt idx="13">
                  <c:v>48</c:v>
                </c:pt>
                <c:pt idx="14">
                  <c:v>54</c:v>
                </c:pt>
                <c:pt idx="15">
                  <c:v>60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139.6320268272455</c:v>
                </c:pt>
                <c:pt idx="1">
                  <c:v>141.298993978293</c:v>
                </c:pt>
                <c:pt idx="2">
                  <c:v>142.96596112934049</c:v>
                </c:pt>
                <c:pt idx="3">
                  <c:v>144.63292828038797</c:v>
                </c:pt>
                <c:pt idx="4">
                  <c:v>146.29989543143546</c:v>
                </c:pt>
                <c:pt idx="5">
                  <c:v>147.96686258248295</c:v>
                </c:pt>
                <c:pt idx="6">
                  <c:v>150.4673133090542</c:v>
                </c:pt>
                <c:pt idx="7">
                  <c:v>152.9677640356254</c:v>
                </c:pt>
                <c:pt idx="8">
                  <c:v>156.3016983377204</c:v>
                </c:pt>
                <c:pt idx="9">
                  <c:v>159.63563263981538</c:v>
                </c:pt>
                <c:pt idx="10">
                  <c:v>162.96956694191036</c:v>
                </c:pt>
                <c:pt idx="11">
                  <c:v>167.97046839505282</c:v>
                </c:pt>
                <c:pt idx="12">
                  <c:v>172.97136984819528</c:v>
                </c:pt>
                <c:pt idx="13">
                  <c:v>177.97227130133774</c:v>
                </c:pt>
                <c:pt idx="14">
                  <c:v>182.97317275448023</c:v>
                </c:pt>
                <c:pt idx="15">
                  <c:v>187.9740742076227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70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F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70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234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657600" cy="3657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ASSEMBLY — DATA ANALYTICS BOOTCAMP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 Exploration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— cleaning, outlier handling &amp; correlation analysis on 500 customers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 ·  Data Analyst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Messy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simulated customers with realistic messiness baked in — so the cleaning steps are doing genuine work, not a formality.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customer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missing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(age, spend)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7532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 threshold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 spenders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(analysis.py)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4434840"/>
            <a:ext cx="347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64992" y="44348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364992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42432" y="4434840"/>
            <a:ext cx="347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89904" y="44348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089904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67344" y="4434840"/>
            <a:ext cx="347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814816" y="44348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814816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 decision is a trade-off — the choice, and the reason for it, matters as much as the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3520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monthly_spend imputed with the median rather than dropped — preserves sample size instead of shrinking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383280" cy="3520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042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310128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high-spend values capped at the 99th percentile instead of removed — keeps real high-value customers without letting them distort the mean.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383280" cy="3520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2809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3042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3310128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distribution histogram + tenure-vs-spend scatter, colored by acquisition channel, to surface patterns visually.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Distribution — Before vs. After Capping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the top 1% of spenders removes distortion from the average without discarding real customers.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vs. Monthly Spend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0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positive correlation (r ≈ 0.08) — tenure alone is not a strong spend predictor in this dataset.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863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645920"/>
            <a:ext cx="2834640" cy="4297680"/>
          </a:xfrm>
          <a:prstGeom prst="roundRect">
            <a:avLst>
              <a:gd name="adj" fmla="val 3871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9611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6112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assume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0" y="30632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"longer customer = bigger spender" without testing it — a null-ish result is itself a useful, decision-relevant finding.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strategy: impute vs. drop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handling: cap vs. remove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&amp; channel-level aggregation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stats into a plain-English memo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data &amp; README: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github.com/ysa7799/portfolio/tree/main/projects/customer-behavior-exploration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Exploration</dc:title>
  <dc:subject>PptxGenJS Presentation</dc:subject>
  <dc:creator>Yusuf Hakeem</dc:creator>
  <cp:lastModifiedBy>Yusuf Hakeem</cp:lastModifiedBy>
  <cp:revision>1</cp:revision>
  <dcterms:created xsi:type="dcterms:W3CDTF">2026-07-02T07:37:22Z</dcterms:created>
  <dcterms:modified xsi:type="dcterms:W3CDTF">2026-07-02T07:37:22Z</dcterms:modified>
</cp:coreProperties>
</file>