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32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 Value (USD M)</c:v>
                </c:pt>
              </c:strCache>
            </c:strRef>
          </c:tx>
          <c:spPr>
            <a:ln w="31750" cap="flat">
              <a:solidFill>
                <a:srgbClr val="1B5E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5EA6"/>
              </a:solidFill>
              <a:ln w="9525" cap="flat">
                <a:solidFill>
                  <a:srgbClr val="1B5EA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1320</c:v>
                </c:pt>
                <c:pt idx="1">
                  <c:v>1369</c:v>
                </c:pt>
                <c:pt idx="2">
                  <c:v>1371</c:v>
                </c:pt>
                <c:pt idx="3">
                  <c:v>1530</c:v>
                </c:pt>
                <c:pt idx="4">
                  <c:v>1324</c:v>
                </c:pt>
                <c:pt idx="5">
                  <c:v>1215</c:v>
                </c:pt>
                <c:pt idx="6">
                  <c:v>1447</c:v>
                </c:pt>
                <c:pt idx="7">
                  <c:v>1302</c:v>
                </c:pt>
                <c:pt idx="8">
                  <c:v>1244</c:v>
                </c:pt>
                <c:pt idx="9">
                  <c:v>1383</c:v>
                </c:pt>
                <c:pt idx="10">
                  <c:v>1430</c:v>
                </c:pt>
                <c:pt idx="11">
                  <c:v>1515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E6B-EB41-9CE3-25EF92A1F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0"/>
          <c:min val="1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H1 2025</c:v>
                </c:pt>
              </c:strCache>
            </c:strRef>
          </c:tx>
          <c:spPr>
            <a:solidFill>
              <a:srgbClr val="2A5A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916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Solar Panels</c:v>
                </c:pt>
                <c:pt idx="1">
                  <c:v>Steel Pipes</c:v>
                </c:pt>
                <c:pt idx="2">
                  <c:v>Pumps &amp; Hoods</c:v>
                </c:pt>
                <c:pt idx="3">
                  <c:v>Silver Ingots</c:v>
                </c:pt>
                <c:pt idx="4">
                  <c:v>Aluminium Scrap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</c:v>
                </c:pt>
                <c:pt idx="1">
                  <c:v>2.5</c:v>
                </c:pt>
                <c:pt idx="2">
                  <c:v>3.2</c:v>
                </c:pt>
                <c:pt idx="3">
                  <c:v>5.4</c:v>
                </c:pt>
                <c:pt idx="4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5B-BC43-BF1E-8748368986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H2 2025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916"/>
                    </a:solidFill>
                    <a:latin typeface="Arial"/>
                  </a:defRPr>
                </a:pPr>
                <a:endParaRPr lang="en-B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Solar Panels</c:v>
                </c:pt>
                <c:pt idx="1">
                  <c:v>Steel Pipes</c:v>
                </c:pt>
                <c:pt idx="2">
                  <c:v>Pumps &amp; Hoods</c:v>
                </c:pt>
                <c:pt idx="3">
                  <c:v>Silver Ingots</c:v>
                </c:pt>
                <c:pt idx="4">
                  <c:v>Aluminium Scrap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16.8</c:v>
                </c:pt>
                <c:pt idx="1">
                  <c:v>17</c:v>
                </c:pt>
                <c:pt idx="2">
                  <c:v>21.3</c:v>
                </c:pt>
                <c:pt idx="3">
                  <c:v>22.2</c:v>
                </c:pt>
                <c:pt idx="4">
                  <c:v>24.8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5B-BC43-BF1E-8748368986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9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898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6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BAHRAIN IMPORT TRADE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50876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2025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2423160"/>
            <a:ext cx="8503920" cy="0"/>
          </a:xfrm>
          <a:prstGeom prst="line">
            <a:avLst/>
          </a:prstGeom>
          <a:noFill/>
          <a:ln w="1905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411480" y="25786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patterns, risks, and growth signals in Bahrain's 2025 import economy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721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3721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DAP-PT-16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3246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May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721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3721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data.gov.bh — Official Bahrain Open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Assembly  ·  Data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353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581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on Bahrain's trade landscape and why this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2221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trade challenges we set out to investigate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3090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3319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analytical questions driving this study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31920"/>
            <a:ext cx="457200" cy="4572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4114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" y="3959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4187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324,818 transactions, 221 countries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325880"/>
            <a:ext cx="457200" cy="4572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20"/>
          <p:cNvSpPr/>
          <p:nvPr/>
        </p:nvSpPr>
        <p:spPr>
          <a:xfrm>
            <a:off x="4709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6088" y="1353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76088" y="1581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deep-dive insights: countries, commodities, seasonality, growth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457200" cy="4572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47091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6088" y="2221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76088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for policymakers and businesses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457200" cy="4572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0" name="Text 28"/>
          <p:cNvSpPr/>
          <p:nvPr/>
        </p:nvSpPr>
        <p:spPr>
          <a:xfrm>
            <a:off x="47091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76088" y="3090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76088" y="3319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data and model constraints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Bahrain &amp; Import Trade — The Context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54864" cy="6858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566928" y="13624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Island Economy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6367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 is a small island nation with limited natural resources, making imports critical to sustain both its population and industrial base.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54864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9" name="Text 7"/>
          <p:cNvSpPr/>
          <p:nvPr/>
        </p:nvSpPr>
        <p:spPr>
          <a:xfrm>
            <a:off x="566928" y="22494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Population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5237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Bahrain's population reached approximately 1.7 million by 2025, driving consistent demand for imported consumer goods and industrial materials.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099816"/>
            <a:ext cx="54864" cy="6858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566928" y="3136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GDP &amp; Trade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4107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Bahrain's GDP exceeded $44 billion USD. Imports represent approximately 28% of GDP — a structural dependency that makes trade analysis strategically vital.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986784"/>
            <a:ext cx="54864" cy="6858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5" name="Text 13"/>
          <p:cNvSpPr/>
          <p:nvPr/>
        </p:nvSpPr>
        <p:spPr>
          <a:xfrm>
            <a:off x="566928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Economic Vision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2976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Bahrain Vision 2030, diversification away from oil requires understanding and actively managing the country's import supply chains.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1325880"/>
            <a:ext cx="27432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608076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Facts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$16.45B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760" y="2395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imports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80760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countries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6,335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80760" y="3419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types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324,818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8076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4197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80760" y="4443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covered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Problem Are We Solving?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64008" cy="1536192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548640" y="1435608"/>
            <a:ext cx="658368" cy="256032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of all imports are just 2 commodities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Bahrain's import basket is dangerously concentrated. Aluminium oxide ($1.48B) and iron ore ($1.46B) together account for nearly one-fifth of total imports — a structural vulnerability.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64008" cy="15361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4846320" y="1435608"/>
            <a:ext cx="658368" cy="25603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4846320" y="1435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76479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seasonal swing within a single year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7568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imports range from $1.22B (June) to $1.53B (April). This 26% gap creates cash flow and supply chain planning challenges for import-dependent businesses.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64008" cy="15361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658368" cy="2560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0" name="Text 18"/>
          <p:cNvSpPr/>
          <p:nvPr/>
        </p:nvSpPr>
        <p:spPr>
          <a:xfrm>
            <a:off x="548640" y="31272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45643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Industry, trade analysts, importers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767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need to understand concentration risk. Analysts need trend data. Businesses need seasonal intelligence to plan procurement and inventory cycles.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64008" cy="153619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Shape 23"/>
          <p:cNvSpPr/>
          <p:nvPr/>
        </p:nvSpPr>
        <p:spPr>
          <a:xfrm>
            <a:off x="4846320" y="3127248"/>
            <a:ext cx="658368" cy="25603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4846320" y="31272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45643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disruption, price spikes, lost competitiveness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767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supplier disruption (e.g., Australia's aluminium oxide) or a commodity price surge could materially impact Bahrain's industrial output and import costs.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Analytical Questions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640080" cy="64008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3350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Country Concentration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60934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are Bahrain's top import sources — and how concentrated is the dependency? Is Bahrain over-reliant on a small number of partners?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640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7008" y="223113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Basket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50545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top commodity categories by value? Are imports diversified across sectors or concentrated in a few industrial raw materials?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90672"/>
            <a:ext cx="640080" cy="64008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7008" y="31272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Import Patterns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340156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import volumes fluctuate across the 12 months of 2025? Are there predictable seasonal peaks and dips that businesses and policymakers should plan around?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640080" cy="64008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411480" y="3986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4023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Signals &amp; Emerging Trends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4297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commodity categories grew the fastest in H2 2025 vs H1? What do these growth signals reveal about Bahrain's economic direction — particularly around energy transition?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Dataset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572768" cy="91440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320040" y="130759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324,818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1261872"/>
            <a:ext cx="1572768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9" name="Text 7"/>
          <p:cNvSpPr/>
          <p:nvPr/>
        </p:nvSpPr>
        <p:spPr>
          <a:xfrm>
            <a:off x="2029968" y="130759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$16.45B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29968" y="18105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(USD)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9896" y="1271016"/>
            <a:ext cx="1572768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3739896" y="1408176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 6.19B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39896" y="2011680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(BD)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9824" y="1261872"/>
            <a:ext cx="1572768" cy="9144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5" name="Text 13"/>
          <p:cNvSpPr/>
          <p:nvPr/>
        </p:nvSpPr>
        <p:spPr>
          <a:xfrm>
            <a:off x="5449824" y="130759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49824" y="18105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Countries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59752" y="1261872"/>
            <a:ext cx="1572768" cy="91440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7159752" y="130759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6,335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59752" y="18105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Types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59152"/>
            <a:ext cx="1984248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21" name="Shape 19"/>
          <p:cNvSpPr/>
          <p:nvPr/>
        </p:nvSpPr>
        <p:spPr>
          <a:xfrm>
            <a:off x="320040" y="2359152"/>
            <a:ext cx="64008" cy="132588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20"/>
          <p:cNvSpPr/>
          <p:nvPr/>
        </p:nvSpPr>
        <p:spPr>
          <a:xfrm>
            <a:off x="448056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 Open Data Portal — data.gov.bh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(Official Bahrain Government, Customs Affairs Authority)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41448" y="2359152"/>
            <a:ext cx="1984248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25" name="Shape 23"/>
          <p:cNvSpPr/>
          <p:nvPr/>
        </p:nvSpPr>
        <p:spPr>
          <a:xfrm>
            <a:off x="2441448" y="2359152"/>
            <a:ext cx="64008" cy="132588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2569464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9464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 – December 2025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months · Full calendar year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62856" y="2359152"/>
            <a:ext cx="1984248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29" name="Shape 27"/>
          <p:cNvSpPr/>
          <p:nvPr/>
        </p:nvSpPr>
        <p:spPr>
          <a:xfrm>
            <a:off x="4562856" y="2359152"/>
            <a:ext cx="64008" cy="13258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0" name="Text 28"/>
          <p:cNvSpPr/>
          <p:nvPr/>
        </p:nvSpPr>
        <p:spPr>
          <a:xfrm>
            <a:off x="4690872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0872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fields: HS code, commodity, country, UN code,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value (BD &amp; USD), weight, quantity, unit of measure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84264" y="2359152"/>
            <a:ext cx="1984248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33" name="Shape 31"/>
          <p:cNvSpPr/>
          <p:nvPr/>
        </p:nvSpPr>
        <p:spPr>
          <a:xfrm>
            <a:off x="6684264" y="2359152"/>
            <a:ext cx="6400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4" name="Text 32"/>
          <p:cNvSpPr/>
          <p:nvPr/>
        </p:nvSpPr>
        <p:spPr>
          <a:xfrm>
            <a:off x="681228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 after cleaning · 0 duplicates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Namibia UN codes filled · 1 negative value flagged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" y="3858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Rate: 1 BD = 2.6596 USD — Fixed peg confirmed with zero variance across all 324,818 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Q1: SOURCE COUNTRY CONCENTRATION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Bahrain Import From?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307592"/>
            <a:ext cx="2898061" cy="192024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5"/>
          <p:cNvSpPr/>
          <p:nvPr/>
        </p:nvSpPr>
        <p:spPr>
          <a:xfrm>
            <a:off x="4909683" y="1261872"/>
            <a:ext cx="2359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$2.353B  (14.3%)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2283008" cy="20116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4248968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$1.546B  (9.4%)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1993392"/>
            <a:ext cx="2111708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Text 11"/>
          <p:cNvSpPr/>
          <p:nvPr/>
        </p:nvSpPr>
        <p:spPr>
          <a:xfrm>
            <a:off x="4077668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$1.430B  (8.7%)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304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340864"/>
            <a:ext cx="1735145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6" name="Text 14"/>
          <p:cNvSpPr/>
          <p:nvPr/>
        </p:nvSpPr>
        <p:spPr>
          <a:xfrm>
            <a:off x="3701105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$1.175B  (7.1%)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651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2688336"/>
            <a:ext cx="1513637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Text 17"/>
          <p:cNvSpPr/>
          <p:nvPr/>
        </p:nvSpPr>
        <p:spPr>
          <a:xfrm>
            <a:off x="3479597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$1.025B  (6.2%)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3035808"/>
            <a:ext cx="1336431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20"/>
          <p:cNvSpPr/>
          <p:nvPr/>
        </p:nvSpPr>
        <p:spPr>
          <a:xfrm>
            <a:off x="3302391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$0.905B  (5.5%)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346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383280"/>
            <a:ext cx="1160701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Text 23"/>
          <p:cNvSpPr/>
          <p:nvPr/>
        </p:nvSpPr>
        <p:spPr>
          <a:xfrm>
            <a:off x="3126661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$0.786B  (4.8%)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3730752"/>
            <a:ext cx="1114923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8" name="Text 26"/>
          <p:cNvSpPr/>
          <p:nvPr/>
        </p:nvSpPr>
        <p:spPr>
          <a:xfrm>
            <a:off x="3080883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$0.755B  (4.6%)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4078224"/>
            <a:ext cx="1048471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1" name="Text 29"/>
          <p:cNvSpPr/>
          <p:nvPr/>
        </p:nvSpPr>
        <p:spPr>
          <a:xfrm>
            <a:off x="3014431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$0.710B  (4.3%)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20240" y="4425696"/>
            <a:ext cx="794475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4" name="Text 32"/>
          <p:cNvSpPr/>
          <p:nvPr/>
        </p:nvSpPr>
        <p:spPr>
          <a:xfrm>
            <a:off x="2760435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$0.538B  (3.3%)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74866" y="1234440"/>
            <a:ext cx="2957654" cy="36576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6" name="Text 34"/>
          <p:cNvSpPr/>
          <p:nvPr/>
        </p:nvSpPr>
        <p:spPr>
          <a:xfrm>
            <a:off x="589788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52160" y="1783080"/>
            <a:ext cx="54864" cy="566928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8" name="Text 36"/>
          <p:cNvSpPr/>
          <p:nvPr/>
        </p:nvSpPr>
        <p:spPr>
          <a:xfrm>
            <a:off x="5980176" y="18105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leads at 14.3%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80176" y="20574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4,600 unique commodity types — the most diverse partner by far.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52160" y="2532888"/>
            <a:ext cx="54864" cy="56692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1" name="Text 39"/>
          <p:cNvSpPr/>
          <p:nvPr/>
        </p:nvSpPr>
        <p:spPr>
          <a:xfrm>
            <a:off x="5980176" y="2560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= one product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80176" y="2807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Australia's $1.55B is almost entirely aluminium oxide for ALBA. Remove it and Australia drops dramatically.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3282696"/>
            <a:ext cx="54864" cy="56692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4" name="Text 42"/>
          <p:cNvSpPr/>
          <p:nvPr/>
        </p:nvSpPr>
        <p:spPr>
          <a:xfrm>
            <a:off x="5980176" y="33101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= 32.4% of all imports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80176" y="3557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Australia, and UAE together control nearly a third of all imports — significant concentration risk.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52160" y="4032504"/>
            <a:ext cx="54864" cy="56692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7" name="Text 45"/>
          <p:cNvSpPr/>
          <p:nvPr/>
        </p:nvSpPr>
        <p:spPr>
          <a:xfrm>
            <a:off x="5980176" y="405993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vs. value gap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980176" y="43068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imports rank lower by value but at $107.90/kg — the highest value density of any partner.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Q2: COMMODITY BASKET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Bahrain Actually Buying?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Oxide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51760" y="1289304"/>
            <a:ext cx="2843784" cy="2103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5"/>
          <p:cNvSpPr/>
          <p:nvPr/>
        </p:nvSpPr>
        <p:spPr>
          <a:xfrm>
            <a:off x="5614416" y="126187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$1.483B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139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1" y="1613916"/>
            <a:ext cx="2843783" cy="23774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5614416" y="1613916"/>
            <a:ext cx="1236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$1.459B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Engine Parts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2002536"/>
            <a:ext cx="1582658" cy="201168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Text 11"/>
          <p:cNvSpPr/>
          <p:nvPr/>
        </p:nvSpPr>
        <p:spPr>
          <a:xfrm>
            <a:off x="4280138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$713M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3180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Ingots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2354580"/>
            <a:ext cx="998873" cy="20116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6" name="Text 14"/>
          <p:cNvSpPr/>
          <p:nvPr/>
        </p:nvSpPr>
        <p:spPr>
          <a:xfrm>
            <a:off x="3696353" y="23180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6700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Jewellery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51760" y="2706624"/>
            <a:ext cx="956698" cy="20116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Text 17"/>
          <p:cNvSpPr/>
          <p:nvPr/>
        </p:nvSpPr>
        <p:spPr>
          <a:xfrm>
            <a:off x="3654178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$431M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0220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51760" y="3058668"/>
            <a:ext cx="712529" cy="201168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20"/>
          <p:cNvSpPr/>
          <p:nvPr/>
        </p:nvSpPr>
        <p:spPr>
          <a:xfrm>
            <a:off x="3410009" y="30220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$321M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374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Jeeps 1501–3000cc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3410712"/>
            <a:ext cx="677014" cy="201168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Text 23"/>
          <p:cNvSpPr/>
          <p:nvPr/>
        </p:nvSpPr>
        <p:spPr>
          <a:xfrm>
            <a:off x="3374494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$305M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7261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Jeeps &gt;3000cc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51760" y="3762756"/>
            <a:ext cx="632619" cy="201168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8" name="Text 26"/>
          <p:cNvSpPr/>
          <p:nvPr/>
        </p:nvSpPr>
        <p:spPr>
          <a:xfrm>
            <a:off x="3330099" y="3726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078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Medicaments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51760" y="4114800"/>
            <a:ext cx="450603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1" name="Text 29"/>
          <p:cNvSpPr/>
          <p:nvPr/>
        </p:nvSpPr>
        <p:spPr>
          <a:xfrm>
            <a:off x="3148083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$203M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4302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 Coke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51760" y="4466844"/>
            <a:ext cx="397329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4" name="Text 32"/>
          <p:cNvSpPr/>
          <p:nvPr/>
        </p:nvSpPr>
        <p:spPr>
          <a:xfrm>
            <a:off x="3094809" y="44302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$179M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1234440"/>
            <a:ext cx="25146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6" name="Text 34"/>
          <p:cNvSpPr/>
          <p:nvPr/>
        </p:nvSpPr>
        <p:spPr>
          <a:xfrm>
            <a:off x="6382512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Category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55080" y="1828800"/>
            <a:ext cx="54864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8" name="Text 36"/>
          <p:cNvSpPr/>
          <p:nvPr/>
        </p:nvSpPr>
        <p:spPr>
          <a:xfrm>
            <a:off x="649224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Raw  17.9%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21214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oxide + iron 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55080" y="2560320"/>
            <a:ext cx="54864" cy="54864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1" name="Text 39"/>
          <p:cNvSpPr/>
          <p:nvPr/>
        </p:nvSpPr>
        <p:spPr>
          <a:xfrm>
            <a:off x="6492240" y="25968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Precious Metals  5.3%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28529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ingots + jewellery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3291840"/>
            <a:ext cx="54864" cy="54864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4" name="Text 42"/>
          <p:cNvSpPr/>
          <p:nvPr/>
        </p:nvSpPr>
        <p:spPr>
          <a:xfrm>
            <a:off x="6492240" y="332841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 4.3%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3584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engine parts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55080" y="4023360"/>
            <a:ext cx="54864" cy="54864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47" name="Text 45"/>
          <p:cNvSpPr/>
          <p:nvPr/>
        </p:nvSpPr>
        <p:spPr>
          <a:xfrm>
            <a:off x="6492240" y="40599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  5.7%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92240" y="43159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phones, medicine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commodities alone = 17.9% of all imports — Bahrain's industrial base drives extreme concentration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Q3: SEASONAL PATTERNS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Bahrain Buy the Most?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344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645920" y="1298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PEAK  $1.53B  (April)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286000" y="3456432"/>
            <a:ext cx="201168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DIP  $1.22B  (June)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80760" y="1298448"/>
            <a:ext cx="265176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9" name="Shape 6"/>
          <p:cNvSpPr/>
          <p:nvPr/>
        </p:nvSpPr>
        <p:spPr>
          <a:xfrm>
            <a:off x="6080760" y="1298448"/>
            <a:ext cx="54864" cy="65836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7"/>
          <p:cNvSpPr/>
          <p:nvPr/>
        </p:nvSpPr>
        <p:spPr>
          <a:xfrm>
            <a:off x="6217920" y="13533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— Peak — $1.530B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1609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Post-Q1 restocking + pre-summer stocking drives highest import month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80760" y="2048256"/>
            <a:ext cx="265176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0"/>
          <p:cNvSpPr/>
          <p:nvPr/>
        </p:nvSpPr>
        <p:spPr>
          <a:xfrm>
            <a:off x="6080760" y="2048256"/>
            <a:ext cx="54864" cy="65836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1"/>
          <p:cNvSpPr/>
          <p:nvPr/>
        </p:nvSpPr>
        <p:spPr>
          <a:xfrm>
            <a:off x="6217920" y="2103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— Dip — $1.215B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slowdown reduces demand; lowest import month of the year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2798064"/>
            <a:ext cx="265176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7" name="Shape 14"/>
          <p:cNvSpPr/>
          <p:nvPr/>
        </p:nvSpPr>
        <p:spPr>
          <a:xfrm>
            <a:off x="6080760" y="2798064"/>
            <a:ext cx="54864" cy="658368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Text 15"/>
          <p:cNvSpPr/>
          <p:nvPr/>
        </p:nvSpPr>
        <p:spPr>
          <a:xfrm>
            <a:off x="6217920" y="28529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Swing — Apr vs Jun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between any two months — significant planning implication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0760" y="3547872"/>
            <a:ext cx="265176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1" name="Shape 18"/>
          <p:cNvSpPr/>
          <p:nvPr/>
        </p:nvSpPr>
        <p:spPr>
          <a:xfrm>
            <a:off x="6080760" y="3547872"/>
            <a:ext cx="54864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2" name="Text 19"/>
          <p:cNvSpPr/>
          <p:nvPr/>
        </p:nvSpPr>
        <p:spPr>
          <a:xfrm>
            <a:off x="6217920" y="36027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— Strong — $1.515B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inventory builds create second-highest month of the year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Q4: GROWTH SIGNALS &amp; EMERGING TRENDS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Growing Fast?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26060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+1,105%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imports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→ H2 2025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154680" y="1234440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549640" y="1463040"/>
            <a:ext cx="50292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0" name="Text 7"/>
          <p:cNvSpPr/>
          <p:nvPr/>
        </p:nvSpPr>
        <p:spPr>
          <a:xfrm>
            <a:off x="8549640" y="1463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+1,105%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549640" y="1938528"/>
            <a:ext cx="502920" cy="347472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Text 9"/>
          <p:cNvSpPr/>
          <p:nvPr/>
        </p:nvSpPr>
        <p:spPr>
          <a:xfrm>
            <a:off x="8549640" y="19385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+580%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8549640" y="2414016"/>
            <a:ext cx="502920" cy="347472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1"/>
          <p:cNvSpPr/>
          <p:nvPr/>
        </p:nvSpPr>
        <p:spPr>
          <a:xfrm>
            <a:off x="8549640" y="24140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+556%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8549640" y="2889504"/>
            <a:ext cx="502920" cy="34747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6" name="Text 13"/>
          <p:cNvSpPr/>
          <p:nvPr/>
        </p:nvSpPr>
        <p:spPr>
          <a:xfrm>
            <a:off x="8549640" y="2889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+313%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549640" y="3364992"/>
            <a:ext cx="502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Text 15"/>
          <p:cNvSpPr/>
          <p:nvPr/>
        </p:nvSpPr>
        <p:spPr>
          <a:xfrm>
            <a:off x="8549640" y="3364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+250%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surge of +1,105% (H1→H2 2025) signals Bahrain's clean energy transition is already underway. Infrastructure investment must scale to match demand.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Actions for Bahrain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64008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45720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35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import partners for critical raw materials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6093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alternative aluminium oxide suppliers (Guinea, Brazil, Jamaica). One country = one point of failure.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83210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Shape 10"/>
          <p:cNvSpPr/>
          <p:nvPr/>
        </p:nvSpPr>
        <p:spPr>
          <a:xfrm>
            <a:off x="411480" y="1984248"/>
            <a:ext cx="64008" cy="64008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3" name="Shape 11"/>
          <p:cNvSpPr/>
          <p:nvPr/>
        </p:nvSpPr>
        <p:spPr>
          <a:xfrm>
            <a:off x="548640" y="2112264"/>
            <a:ext cx="457200" cy="384048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548640" y="2112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057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90-day strategic reserves for industrial commodities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3317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oxide + iron ore = 17.9% of all imports with inelastic demand. A buffer reserve protects industrial continuity.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706624"/>
            <a:ext cx="83210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8" name="Shape 16"/>
          <p:cNvSpPr/>
          <p:nvPr/>
        </p:nvSpPr>
        <p:spPr>
          <a:xfrm>
            <a:off x="411480" y="2706624"/>
            <a:ext cx="64008" cy="64008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457200" cy="38404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7797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procurement calendars to seasonal import cycles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0540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supplier contracts before April peaks; negotiate new deals in June–August when demand and prices are lower.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429000"/>
            <a:ext cx="83210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64008" cy="64008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5" name="Shape 23"/>
          <p:cNvSpPr/>
          <p:nvPr/>
        </p:nvSpPr>
        <p:spPr>
          <a:xfrm>
            <a:off x="548640" y="3557016"/>
            <a:ext cx="457200" cy="38404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548640" y="3557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502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renewable energy import infrastructure now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7764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imports grew 1,100%+ in H2. Customs, port, and logistics systems must scale to match the clean energy transition.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83210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0" name="Shape 28"/>
          <p:cNvSpPr/>
          <p:nvPr/>
        </p:nvSpPr>
        <p:spPr>
          <a:xfrm>
            <a:off x="411480" y="4151376"/>
            <a:ext cx="6400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1" name="Shape 29"/>
          <p:cNvSpPr/>
          <p:nvPr/>
        </p:nvSpPr>
        <p:spPr>
          <a:xfrm>
            <a:off x="548640" y="4279392"/>
            <a:ext cx="457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2" name="Text 30"/>
          <p:cNvSpPr/>
          <p:nvPr/>
        </p:nvSpPr>
        <p:spPr>
          <a:xfrm>
            <a:off x="548640" y="42793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trade intelligence monitoring unit at MOICT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44988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import concentration, country dependencies, and commodity growth signals — across all 221 partners.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Assessment of This Study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64008" cy="123444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Year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82496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multi-year data available, making it impossible to distinguish 2025-specific anomalies from long-term structural trends. Year-over-year comparisons require 2022–2024 import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64008" cy="123444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Export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82496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corresponding export records, a full trade balance analysis is not possible. Net trade position and re-export activity (especially via UAE) cannot be measured.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5176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64008" cy="1234440"/>
          </a:xfrm>
          <a:prstGeom prst="rect">
            <a:avLst/>
          </a:prstGeom>
          <a:solidFill>
            <a:srgbClr val="1B5EA6"/>
          </a:solidFill>
          <a:ln w="1270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54096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12 monthly data points, all four time-series models returned low R² values (0.04–0.16). Forecasts are directionally valid but carry significant margin of error (~6–7%).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18" name="Shape 16"/>
          <p:cNvSpPr/>
          <p:nvPr/>
        </p:nvSpPr>
        <p:spPr>
          <a:xfrm>
            <a:off x="4709160" y="2651760"/>
            <a:ext cx="64008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GDP or Inflation Linkage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54096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values cannot be expressed as a share of GDP or adjusted for inflation without supplemental macroeconomic data. This limits interpretation of real vs. nominal growth.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023360"/>
            <a:ext cx="8321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64008" cy="12344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23" name="Text 21"/>
          <p:cNvSpPr/>
          <p:nvPr/>
        </p:nvSpPr>
        <p:spPr>
          <a:xfrm>
            <a:off x="566928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 Pricing Standardization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425696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value and quantity exist in different units (NO, KG, L, T, SQM etc.), making price-per-unit analysis across commodities unreliable without standardization.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8412480" cy="0"/>
          </a:xfrm>
          <a:prstGeom prst="line">
            <a:avLst/>
          </a:prstGeom>
          <a:noFill/>
          <a:ln w="19050">
            <a:solidFill>
              <a:srgbClr val="1B5EA6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41148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$16.45B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6,335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+1,105%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800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0416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</a:t>
            </a: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DAP-PT-16   |   10 May 2026   |   General Assembly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data.gov.bh — Bahrain Open Data Portal (Official Government Source)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1500</Words>
  <Application>Microsoft Macintosh PowerPoint</Application>
  <PresentationFormat>On-screen Show (16:9)</PresentationFormat>
  <Paragraphs>260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Bahrain Import Trade Intelligence 2025</dc:title>
  <dc:subject>PptxGenJS Presentation</dc:subject>
  <dc:creator>Yusuf Hakeem</dc:creator>
  <cp:lastModifiedBy>Office</cp:lastModifiedBy>
  <cp:revision>10</cp:revision>
  <dcterms:created xsi:type="dcterms:W3CDTF">2026-05-06T19:31:48Z</dcterms:created>
  <dcterms:modified xsi:type="dcterms:W3CDTF">2026-05-10T17:30:42Z</dcterms:modified>
</cp:coreProperties>
</file>